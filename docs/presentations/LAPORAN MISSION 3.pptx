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Bernoru" charset="1" panose="00000A00000000000000"/>
      <p:regular r:id="rId27"/>
    </p:embeddedFont>
    <p:embeddedFont>
      <p:font typeface="DM Sans" charset="1" panose="00000000000000000000"/>
      <p:regular r:id="rId28"/>
    </p:embeddedFont>
    <p:embeddedFont>
      <p:font typeface="DM Sans Bold" charset="1" panose="00000000000000000000"/>
      <p:regular r:id="rId29"/>
    </p:embeddedFont>
    <p:embeddedFont>
      <p:font typeface="Canva Sans" charset="1" panose="020B0503030501040103"/>
      <p:regular r:id="rId30"/>
    </p:embeddedFont>
    <p:embeddedFont>
      <p:font typeface="Canva Sans Bold" charset="1" panose="020B08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524504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67273" y="2736369"/>
            <a:ext cx="11629451" cy="4814261"/>
            <a:chOff x="0" y="0"/>
            <a:chExt cx="1105668" cy="457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5668" cy="457715"/>
            </a:xfrm>
            <a:custGeom>
              <a:avLst/>
              <a:gdLst/>
              <a:ahLst/>
              <a:cxnLst/>
              <a:rect r="r" b="b" t="t" l="l"/>
              <a:pathLst>
                <a:path h="457715" w="1105668">
                  <a:moveTo>
                    <a:pt x="93360" y="0"/>
                  </a:moveTo>
                  <a:lnTo>
                    <a:pt x="1012308" y="0"/>
                  </a:lnTo>
                  <a:cubicBezTo>
                    <a:pt x="1063869" y="0"/>
                    <a:pt x="1105668" y="41799"/>
                    <a:pt x="1105668" y="93360"/>
                  </a:cubicBezTo>
                  <a:lnTo>
                    <a:pt x="1105668" y="364355"/>
                  </a:lnTo>
                  <a:cubicBezTo>
                    <a:pt x="1105668" y="415916"/>
                    <a:pt x="1063869" y="457715"/>
                    <a:pt x="1012308" y="457715"/>
                  </a:cubicBezTo>
                  <a:lnTo>
                    <a:pt x="93360" y="457715"/>
                  </a:lnTo>
                  <a:cubicBezTo>
                    <a:pt x="41799" y="457715"/>
                    <a:pt x="0" y="415916"/>
                    <a:pt x="0" y="364355"/>
                  </a:cubicBezTo>
                  <a:lnTo>
                    <a:pt x="0" y="93360"/>
                  </a:lnTo>
                  <a:cubicBezTo>
                    <a:pt x="0" y="41799"/>
                    <a:pt x="41799" y="0"/>
                    <a:pt x="93360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05668" cy="495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86545" y="2160576"/>
            <a:ext cx="6607896" cy="5872768"/>
          </a:xfrm>
          <a:custGeom>
            <a:avLst/>
            <a:gdLst/>
            <a:ahLst/>
            <a:cxnLst/>
            <a:rect r="r" b="b" t="t" l="l"/>
            <a:pathLst>
              <a:path h="5872768" w="6607896">
                <a:moveTo>
                  <a:pt x="0" y="0"/>
                </a:moveTo>
                <a:lnTo>
                  <a:pt x="6607896" y="0"/>
                </a:lnTo>
                <a:lnTo>
                  <a:pt x="6607896" y="5872768"/>
                </a:lnTo>
                <a:lnTo>
                  <a:pt x="0" y="5872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93370" y="1639017"/>
            <a:ext cx="1872441" cy="2035262"/>
          </a:xfrm>
          <a:custGeom>
            <a:avLst/>
            <a:gdLst/>
            <a:ahLst/>
            <a:cxnLst/>
            <a:rect r="r" b="b" t="t" l="l"/>
            <a:pathLst>
              <a:path h="2035262" w="1872441">
                <a:moveTo>
                  <a:pt x="0" y="0"/>
                </a:moveTo>
                <a:lnTo>
                  <a:pt x="1872442" y="0"/>
                </a:lnTo>
                <a:lnTo>
                  <a:pt x="1872442" y="2035262"/>
                </a:lnTo>
                <a:lnTo>
                  <a:pt x="0" y="2035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7802953" y="2565688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9" y="0"/>
                </a:lnTo>
                <a:lnTo>
                  <a:pt x="407139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57134" y="3807629"/>
            <a:ext cx="9286663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LAPORAN</a:t>
            </a:r>
          </a:p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MISSION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208" y="6302093"/>
            <a:ext cx="103925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TUGAS BESAR PERGUDANGAN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7967929"/>
            <a:ext cx="4473264" cy="58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4335">
                <a:solidFill>
                  <a:srgbClr val="F2EFF1"/>
                </a:solidFill>
                <a:latin typeface="Bernoru"/>
                <a:ea typeface="Bernoru"/>
                <a:cs typeface="Bernoru"/>
                <a:sym typeface="Bernoru"/>
              </a:rPr>
              <a:t>KELOMPOK 19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5710" y="4524504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779175" y="-1852548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55192" y="1028700"/>
            <a:ext cx="1808897" cy="2009886"/>
          </a:xfrm>
          <a:custGeom>
            <a:avLst/>
            <a:gdLst/>
            <a:ahLst/>
            <a:cxnLst/>
            <a:rect r="r" b="b" t="t" l="l"/>
            <a:pathLst>
              <a:path h="2009886" w="1808897">
                <a:moveTo>
                  <a:pt x="0" y="0"/>
                </a:moveTo>
                <a:lnTo>
                  <a:pt x="1808897" y="0"/>
                </a:lnTo>
                <a:lnTo>
                  <a:pt x="1808897" y="2009886"/>
                </a:lnTo>
                <a:lnTo>
                  <a:pt x="0" y="2009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52752" y="7752153"/>
            <a:ext cx="1273579" cy="1217860"/>
          </a:xfrm>
          <a:custGeom>
            <a:avLst/>
            <a:gdLst/>
            <a:ahLst/>
            <a:cxnLst/>
            <a:rect r="r" b="b" t="t" l="l"/>
            <a:pathLst>
              <a:path h="1217860" w="1273579">
                <a:moveTo>
                  <a:pt x="0" y="0"/>
                </a:moveTo>
                <a:lnTo>
                  <a:pt x="1273578" y="0"/>
                </a:lnTo>
                <a:lnTo>
                  <a:pt x="1273578" y="1217860"/>
                </a:lnTo>
                <a:lnTo>
                  <a:pt x="0" y="1217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962483" y="7253760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8" y="0"/>
                </a:lnTo>
                <a:lnTo>
                  <a:pt x="407138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29310" y="905076"/>
            <a:ext cx="990997" cy="1150649"/>
          </a:xfrm>
          <a:custGeom>
            <a:avLst/>
            <a:gdLst/>
            <a:ahLst/>
            <a:cxnLst/>
            <a:rect r="r" b="b" t="t" l="l"/>
            <a:pathLst>
              <a:path h="1150649" w="990997">
                <a:moveTo>
                  <a:pt x="0" y="0"/>
                </a:moveTo>
                <a:lnTo>
                  <a:pt x="990997" y="0"/>
                </a:lnTo>
                <a:lnTo>
                  <a:pt x="990997" y="1150649"/>
                </a:lnTo>
                <a:lnTo>
                  <a:pt x="0" y="11506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27734" y="2140987"/>
            <a:ext cx="11432532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ANGGOTA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26079" y="3869184"/>
            <a:ext cx="1079945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51831" y="3869184"/>
            <a:ext cx="1079945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38955" y="5219700"/>
            <a:ext cx="1079945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6025" y="3973006"/>
            <a:ext cx="316863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SYAHRIALDI RACHIM AKBAR (123450093)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18901" y="5081716"/>
            <a:ext cx="316863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ZAHRA PUTRI SALSABILLA(123450026)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30564" y="3967291"/>
            <a:ext cx="316863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FEBY ANGELINA (123450039)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42622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128255" y="8040440"/>
            <a:ext cx="1273579" cy="1217860"/>
          </a:xfrm>
          <a:custGeom>
            <a:avLst/>
            <a:gdLst/>
            <a:ahLst/>
            <a:cxnLst/>
            <a:rect r="r" b="b" t="t" l="l"/>
            <a:pathLst>
              <a:path h="1217860" w="1273579">
                <a:moveTo>
                  <a:pt x="0" y="0"/>
                </a:moveTo>
                <a:lnTo>
                  <a:pt x="1273579" y="0"/>
                </a:lnTo>
                <a:lnTo>
                  <a:pt x="1273579" y="1217860"/>
                </a:lnTo>
                <a:lnTo>
                  <a:pt x="0" y="1217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1292" y="724888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405015" y="5356433"/>
            <a:ext cx="7803734" cy="78037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64175">
                    <a:alpha val="100000"/>
                  </a:srgbClr>
                </a:gs>
                <a:gs pos="100000">
                  <a:srgbClr val="3070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4626917"/>
            <a:ext cx="6556364" cy="4179682"/>
          </a:xfrm>
          <a:custGeom>
            <a:avLst/>
            <a:gdLst/>
            <a:ahLst/>
            <a:cxnLst/>
            <a:rect r="r" b="b" t="t" l="l"/>
            <a:pathLst>
              <a:path h="4179682" w="6556364">
                <a:moveTo>
                  <a:pt x="0" y="0"/>
                </a:moveTo>
                <a:lnTo>
                  <a:pt x="6556364" y="0"/>
                </a:lnTo>
                <a:lnTo>
                  <a:pt x="6556364" y="4179683"/>
                </a:lnTo>
                <a:lnTo>
                  <a:pt x="0" y="4179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6437" y="2075464"/>
            <a:ext cx="15275127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EXECUTIVE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07929" y="3256453"/>
            <a:ext cx="8957115" cy="482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88"/>
              </a:lnSpc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Mission 3 merupakan fase final dari proyek Data Warehousing yang melibatkan production deployment dari Data Mart BAU ITERA.</a:t>
            </a:r>
          </a:p>
          <a:p>
            <a:pPr algn="just">
              <a:lnSpc>
                <a:spcPts val="2788"/>
              </a:lnSpc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Kami berhasil mengdeploykan complete database infrastructure ke Azure cloud dengan 8 schemas, 30+ tables, dan 42 performance indexes yang fully optimized.</a:t>
            </a:r>
          </a:p>
          <a:p>
            <a:pPr algn="just">
              <a:lnSpc>
                <a:spcPts val="2788"/>
              </a:lnSpc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ETL pipeline dengan 6 stored procedures telah diimplementasikan dan ditest dengan data quality score mencapai 94.2%.</a:t>
            </a:r>
          </a:p>
          <a:p>
            <a:pPr algn="just" marL="0" indent="0" lvl="0">
              <a:lnSpc>
                <a:spcPts val="2788"/>
              </a:lnSpc>
              <a:spcBef>
                <a:spcPct val="0"/>
              </a:spcBef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Keseluruhan infrastruktur telah dikonfigurasi dengan comprehensive security controls, automated backup strategy, dan complete documentation yang siap untuk production operations.</a:t>
            </a:r>
          </a:p>
          <a:p>
            <a:pPr algn="just" marL="0" indent="0" lvl="0">
              <a:lnSpc>
                <a:spcPts val="2788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8940431" y="7542047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8" y="0"/>
                </a:lnTo>
                <a:lnTo>
                  <a:pt x="407138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524504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065293" y="1352120"/>
            <a:ext cx="3835886" cy="2905683"/>
          </a:xfrm>
          <a:custGeom>
            <a:avLst/>
            <a:gdLst/>
            <a:ahLst/>
            <a:cxnLst/>
            <a:rect r="r" b="b" t="t" l="l"/>
            <a:pathLst>
              <a:path h="2905683" w="3835886">
                <a:moveTo>
                  <a:pt x="0" y="0"/>
                </a:moveTo>
                <a:lnTo>
                  <a:pt x="3835886" y="0"/>
                </a:lnTo>
                <a:lnTo>
                  <a:pt x="3835886" y="2905684"/>
                </a:lnTo>
                <a:lnTo>
                  <a:pt x="0" y="2905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84173" y="2026322"/>
            <a:ext cx="9247038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INFRASTRUCTURE DEPLOYMENT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9546" y="4268152"/>
            <a:ext cx="1125443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Server Environment: Microsoft Azure Virtual Machine (vm-kelompok-19)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84173" y="5294102"/>
            <a:ext cx="14292804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IP ADDRESS: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104.43.93.28 | OPERATING SYSTEM: UBUNTU 22.04.5 LTS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ENGINE: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POSTGRESQL 14.19 RUNNING DALAM DOCKER CONTAINER</a:t>
            </a: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 UNTUK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REPRODUCIBLE DEPLOYMENT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SERVER SPECIFICATIONS: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16 VCPU, 28.89 GB SSD STORAGE, PORT 5432 PUBLICLY EXPOSED UNTUK REMOTE ACCESS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ARCHITECTURE DESIGN: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CONTAINERIZED APPROACH MEMUNGKINKAN SCALING DAN EASY ROLLBACK JIKA DIPERLUKAN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3520750">
            <a:off x="16088375" y="7495810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7" y="0"/>
                </a:lnTo>
                <a:lnTo>
                  <a:pt x="1386167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524504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4524504"/>
            <a:ext cx="15764661" cy="4282096"/>
            <a:chOff x="0" y="0"/>
            <a:chExt cx="1498823" cy="407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407120"/>
            </a:xfrm>
            <a:custGeom>
              <a:avLst/>
              <a:gdLst/>
              <a:ahLst/>
              <a:cxnLst/>
              <a:rect r="r" b="b" t="t" l="l"/>
              <a:pathLst>
                <a:path h="407120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338248"/>
                  </a:lnTo>
                  <a:cubicBezTo>
                    <a:pt x="1498823" y="376285"/>
                    <a:pt x="1467988" y="407120"/>
                    <a:pt x="1429951" y="407120"/>
                  </a:cubicBezTo>
                  <a:lnTo>
                    <a:pt x="68871" y="407120"/>
                  </a:lnTo>
                  <a:cubicBezTo>
                    <a:pt x="50605" y="407120"/>
                    <a:pt x="33088" y="399863"/>
                    <a:pt x="20172" y="386948"/>
                  </a:cubicBezTo>
                  <a:cubicBezTo>
                    <a:pt x="7256" y="374032"/>
                    <a:pt x="0" y="356514"/>
                    <a:pt x="0" y="338248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44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1670" y="1480400"/>
            <a:ext cx="15764661" cy="2690468"/>
            <a:chOff x="0" y="0"/>
            <a:chExt cx="1498823" cy="2557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8823" cy="255796"/>
            </a:xfrm>
            <a:custGeom>
              <a:avLst/>
              <a:gdLst/>
              <a:ahLst/>
              <a:cxnLst/>
              <a:rect r="r" b="b" t="t" l="l"/>
              <a:pathLst>
                <a:path h="255796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186925"/>
                  </a:lnTo>
                  <a:cubicBezTo>
                    <a:pt x="1498823" y="205190"/>
                    <a:pt x="1491567" y="222708"/>
                    <a:pt x="1478651" y="235624"/>
                  </a:cubicBezTo>
                  <a:cubicBezTo>
                    <a:pt x="1465735" y="248540"/>
                    <a:pt x="1448217" y="255796"/>
                    <a:pt x="1429951" y="255796"/>
                  </a:cubicBezTo>
                  <a:lnTo>
                    <a:pt x="68871" y="255796"/>
                  </a:lnTo>
                  <a:cubicBezTo>
                    <a:pt x="30835" y="255796"/>
                    <a:pt x="0" y="224961"/>
                    <a:pt x="0" y="186925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98823" cy="293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75002" y="1880119"/>
            <a:ext cx="14537996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DATABASE ARCHITECTURE OVERVIEW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59576" y="1134405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486416">
            <a:off x="715173" y="2570751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8" y="0"/>
                </a:lnTo>
                <a:lnTo>
                  <a:pt x="1386168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34735" y="4951052"/>
            <a:ext cx="14524841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sz="285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Terdapat 8 schemas yang telah didesain dengan clear separation of concerns:</a:t>
            </a:r>
          </a:p>
          <a:p>
            <a:pPr algn="ctr">
              <a:lnSpc>
                <a:spcPts val="3431"/>
              </a:lnSpc>
            </a:pPr>
            <a:r>
              <a:rPr lang="en-US" sz="285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• Staging Layer (stg): Raw data ingestion dari source systems</a:t>
            </a:r>
          </a:p>
          <a:p>
            <a:pPr algn="ctr">
              <a:lnSpc>
                <a:spcPts val="3431"/>
              </a:lnSpc>
            </a:pPr>
            <a:r>
              <a:rPr lang="en-US" sz="285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• Dimension Tables (dim): 7 dimension tables untuk analitik multi-dimensi</a:t>
            </a:r>
          </a:p>
          <a:p>
            <a:pPr algn="ctr">
              <a:lnSpc>
                <a:spcPts val="3431"/>
              </a:lnSpc>
            </a:pPr>
            <a:r>
              <a:rPr lang="en-US" sz="285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• Fact Tables (fact): 3 fact tables untuk business metrics tracking</a:t>
            </a:r>
          </a:p>
          <a:p>
            <a:pPr algn="ctr">
              <a:lnSpc>
                <a:spcPts val="3431"/>
              </a:lnSpc>
            </a:pPr>
            <a:r>
              <a:rPr lang="en-US" sz="285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• ETL Layer (etl): 6 procedures untuk automated data transformation dan loading</a:t>
            </a:r>
          </a:p>
          <a:p>
            <a:pPr algn="ctr">
              <a:lnSpc>
                <a:spcPts val="3431"/>
              </a:lnSpc>
            </a:pPr>
            <a:r>
              <a:rPr lang="en-US" sz="285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• Logging Layer (etl_log): Comprehensive audit trail dan error handling</a:t>
            </a:r>
          </a:p>
          <a:p>
            <a:pPr algn="ctr">
              <a:lnSpc>
                <a:spcPts val="3431"/>
              </a:lnSpc>
            </a:pPr>
            <a:r>
              <a:rPr lang="en-US" sz="285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• Analytics Layer: Views untuk executive dashboards dan operational reporting</a:t>
            </a:r>
          </a:p>
          <a:p>
            <a:pPr algn="just" marL="0" indent="0" lvl="0">
              <a:lnSpc>
                <a:spcPts val="34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424967" y="217536"/>
            <a:ext cx="2863033" cy="3033678"/>
          </a:xfrm>
          <a:custGeom>
            <a:avLst/>
            <a:gdLst/>
            <a:ahLst/>
            <a:cxnLst/>
            <a:rect r="r" b="b" t="t" l="l"/>
            <a:pathLst>
              <a:path h="3033678" w="2863033">
                <a:moveTo>
                  <a:pt x="0" y="0"/>
                </a:moveTo>
                <a:lnTo>
                  <a:pt x="2863033" y="0"/>
                </a:lnTo>
                <a:lnTo>
                  <a:pt x="2863033" y="3033677"/>
                </a:lnTo>
                <a:lnTo>
                  <a:pt x="0" y="3033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162387">
            <a:off x="15963643" y="7470232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7" y="0"/>
                </a:lnTo>
                <a:lnTo>
                  <a:pt x="1386167" y="1540186"/>
                </a:lnTo>
                <a:lnTo>
                  <a:pt x="0" y="15401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31600" y="2305698"/>
            <a:ext cx="14189596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DATABASE STRUCTURE &amp; STATISTICS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1600" y="4348900"/>
            <a:ext cx="14189596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Total 30+ tables telah berhasil diimplementasikan dengan complete relationships dan constraints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Dimension Tables: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dim_waktu, dim_unit_kerja, dim_pegawai, dim_jenis_surat, dim_jenis_layanan, dim_barang, dim_lokasi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Fact Tables: fact_surat (document transactions), fact_layanan (service transactions), fact_aset (asset transactions)</a:t>
            </a: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Optimization: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42 strategic indexes telah dicreate untuk optimize query performance di critical paths</a:t>
            </a: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Referential Integrity: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Foreign keys dan constraints memastikan data consistency across all tables</a:t>
            </a:r>
          </a:p>
          <a:p>
            <a:pPr algn="just" marL="0" indent="0" lvl="0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243786"/>
            <a:ext cx="15764661" cy="7829180"/>
            <a:chOff x="0" y="0"/>
            <a:chExt cx="1498823" cy="744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744358"/>
            </a:xfrm>
            <a:custGeom>
              <a:avLst/>
              <a:gdLst/>
              <a:ahLst/>
              <a:cxnLst/>
              <a:rect r="r" b="b" t="t" l="l"/>
              <a:pathLst>
                <a:path h="744358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75487"/>
                  </a:lnTo>
                  <a:cubicBezTo>
                    <a:pt x="1498823" y="693753"/>
                    <a:pt x="1491567" y="711270"/>
                    <a:pt x="1478651" y="724186"/>
                  </a:cubicBezTo>
                  <a:cubicBezTo>
                    <a:pt x="1465735" y="737102"/>
                    <a:pt x="1448217" y="744358"/>
                    <a:pt x="1429951" y="744358"/>
                  </a:cubicBezTo>
                  <a:lnTo>
                    <a:pt x="68871" y="744358"/>
                  </a:lnTo>
                  <a:cubicBezTo>
                    <a:pt x="30835" y="744358"/>
                    <a:pt x="0" y="713523"/>
                    <a:pt x="0" y="675487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82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7240683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28496" y="7960882"/>
            <a:ext cx="2706366" cy="2199537"/>
          </a:xfrm>
          <a:custGeom>
            <a:avLst/>
            <a:gdLst/>
            <a:ahLst/>
            <a:cxnLst/>
            <a:rect r="r" b="b" t="t" l="l"/>
            <a:pathLst>
              <a:path h="2199537" w="2706366">
                <a:moveTo>
                  <a:pt x="0" y="0"/>
                </a:moveTo>
                <a:lnTo>
                  <a:pt x="2706365" y="0"/>
                </a:lnTo>
                <a:lnTo>
                  <a:pt x="2706365" y="2199537"/>
                </a:lnTo>
                <a:lnTo>
                  <a:pt x="0" y="2199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74612" y="1659670"/>
            <a:ext cx="12653883" cy="19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4"/>
              </a:lnSpc>
            </a:pPr>
            <a:r>
              <a:rPr lang="en-US" sz="7414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ETL PIPELINE &amp; DATA INTEGRATION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486416">
            <a:off x="16108879" y="2432307"/>
            <a:ext cx="1259494" cy="1399438"/>
          </a:xfrm>
          <a:custGeom>
            <a:avLst/>
            <a:gdLst/>
            <a:ahLst/>
            <a:cxnLst/>
            <a:rect r="r" b="b" t="t" l="l"/>
            <a:pathLst>
              <a:path h="1399438" w="1259494">
                <a:moveTo>
                  <a:pt x="0" y="0"/>
                </a:moveTo>
                <a:lnTo>
                  <a:pt x="1259494" y="0"/>
                </a:lnTo>
                <a:lnTo>
                  <a:pt x="1259494" y="1399437"/>
                </a:lnTo>
                <a:lnTo>
                  <a:pt x="0" y="13994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74612" y="3607391"/>
            <a:ext cx="14007066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558DFD"/>
                </a:solidFill>
                <a:latin typeface="DM Sans Bold"/>
                <a:ea typeface="DM Sans Bold"/>
                <a:cs typeface="DM Sans Bold"/>
                <a:sym typeface="DM Sans Bold"/>
              </a:rPr>
              <a:t>ENAM STORED PROCEDURES TELAH DIIMPLEMENTASIKAN UNTUK HANDLE COMPLETE DATA TRANSFORMATION WORKFLOW: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64175"/>
                </a:solidFill>
                <a:latin typeface="DM Sans Bold"/>
                <a:ea typeface="DM Sans Bold"/>
                <a:cs typeface="DM Sans Bold"/>
                <a:sym typeface="DM Sans Bold"/>
              </a:rPr>
              <a:t>LOAD_DIM_WAKTU()</a:t>
            </a:r>
            <a:r>
              <a:rPr lang="en-US" sz="2499">
                <a:solidFill>
                  <a:srgbClr val="264175"/>
                </a:solidFill>
                <a:latin typeface="DM Sans"/>
                <a:ea typeface="DM Sans"/>
                <a:cs typeface="DM Sans"/>
                <a:sym typeface="DM Sans"/>
              </a:rPr>
              <a:t> - UNTUK LOADING TIME DIMENSION DENGAN GRANULAR TIME CALCULATIONS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64175"/>
                </a:solidFill>
                <a:latin typeface="DM Sans Bold"/>
                <a:ea typeface="DM Sans Bold"/>
                <a:cs typeface="DM Sans Bold"/>
                <a:sym typeface="DM Sans Bold"/>
              </a:rPr>
              <a:t>LOAD_DIM_UNIT_KERJA()</a:t>
            </a:r>
            <a:r>
              <a:rPr lang="en-US" sz="2499">
                <a:solidFill>
                  <a:srgbClr val="264175"/>
                </a:solidFill>
                <a:latin typeface="DM Sans"/>
                <a:ea typeface="DM Sans"/>
                <a:cs typeface="DM Sans"/>
                <a:sym typeface="DM Sans"/>
              </a:rPr>
              <a:t> - UNTUK ORGANIZATIONAL UNIT MASTER DATA DARI SUMBER ITERA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64175"/>
                </a:solidFill>
                <a:latin typeface="DM Sans Bold"/>
                <a:ea typeface="DM Sans Bold"/>
                <a:cs typeface="DM Sans Bold"/>
                <a:sym typeface="DM Sans Bold"/>
              </a:rPr>
              <a:t>LOAD_DIM_PEGAWAI() </a:t>
            </a:r>
            <a:r>
              <a:rPr lang="en-US" sz="2499">
                <a:solidFill>
                  <a:srgbClr val="264175"/>
                </a:solidFill>
                <a:latin typeface="DM Sans"/>
                <a:ea typeface="DM Sans"/>
                <a:cs typeface="DM Sans"/>
                <a:sym typeface="DM Sans"/>
              </a:rPr>
              <a:t>- EMPLOYEE MASTER DATA DENGAN STATUS TRACKING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64175"/>
                </a:solidFill>
                <a:latin typeface="DM Sans Bold"/>
                <a:ea typeface="DM Sans Bold"/>
                <a:cs typeface="DM Sans Bold"/>
                <a:sym typeface="DM Sans Bold"/>
              </a:rPr>
              <a:t>LOAD_DIM_JENIS_SURAT() </a:t>
            </a:r>
            <a:r>
              <a:rPr lang="en-US" sz="2499">
                <a:solidFill>
                  <a:srgbClr val="264175"/>
                </a:solidFill>
                <a:latin typeface="DM Sans"/>
                <a:ea typeface="DM Sans"/>
                <a:cs typeface="DM Sans"/>
                <a:sym typeface="DM Sans"/>
              </a:rPr>
              <a:t>- DOCUMENT TYPE REFERENCE DATA DENGAN 6 REFERENCE RECORDS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64175"/>
                </a:solidFill>
                <a:latin typeface="DM Sans Bold"/>
                <a:ea typeface="DM Sans Bold"/>
                <a:cs typeface="DM Sans Bold"/>
                <a:sym typeface="DM Sans Bold"/>
              </a:rPr>
              <a:t>LOAD_DIM_LAYANAN() </a:t>
            </a:r>
            <a:r>
              <a:rPr lang="en-US" sz="2499">
                <a:solidFill>
                  <a:srgbClr val="264175"/>
                </a:solidFill>
                <a:latin typeface="DM Sans"/>
                <a:ea typeface="DM Sans"/>
                <a:cs typeface="DM Sans"/>
                <a:sym typeface="DM Sans"/>
              </a:rPr>
              <a:t>- SERVICE TYPE REFERENCE DENGAN SERVICE CATEGORIZATION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64175"/>
                </a:solidFill>
                <a:latin typeface="DM Sans Bold"/>
                <a:ea typeface="DM Sans Bold"/>
                <a:cs typeface="DM Sans Bold"/>
                <a:sym typeface="DM Sans Bold"/>
              </a:rPr>
              <a:t>MASTER_ETL() </a:t>
            </a:r>
            <a:r>
              <a:rPr lang="en-US" sz="2499">
                <a:solidFill>
                  <a:srgbClr val="264175"/>
                </a:solidFill>
                <a:latin typeface="DM Sans"/>
                <a:ea typeface="DM Sans"/>
                <a:cs typeface="DM Sans"/>
                <a:sym typeface="DM Sans"/>
              </a:rPr>
              <a:t>- ORCHESTRATOR PROCEDURE YANG MENJALANKAN SEMUA ETL DALAM SEQUENCE YANG TEPAT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2690468"/>
            <a:chOff x="0" y="0"/>
            <a:chExt cx="1498823" cy="2557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255796"/>
            </a:xfrm>
            <a:custGeom>
              <a:avLst/>
              <a:gdLst/>
              <a:ahLst/>
              <a:cxnLst/>
              <a:rect r="r" b="b" t="t" l="l"/>
              <a:pathLst>
                <a:path h="255796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186925"/>
                  </a:lnTo>
                  <a:cubicBezTo>
                    <a:pt x="1498823" y="205190"/>
                    <a:pt x="1491567" y="222708"/>
                    <a:pt x="1478651" y="235624"/>
                  </a:cubicBezTo>
                  <a:cubicBezTo>
                    <a:pt x="1465735" y="248540"/>
                    <a:pt x="1448217" y="255796"/>
                    <a:pt x="1429951" y="255796"/>
                  </a:cubicBezTo>
                  <a:lnTo>
                    <a:pt x="68871" y="255796"/>
                  </a:lnTo>
                  <a:cubicBezTo>
                    <a:pt x="30835" y="255796"/>
                    <a:pt x="0" y="224961"/>
                    <a:pt x="0" y="186925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293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13848" y="1880119"/>
            <a:ext cx="13260304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DATA QUALITY &amp; VALIDATION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61670" y="4719520"/>
            <a:ext cx="15764661" cy="4282096"/>
            <a:chOff x="0" y="0"/>
            <a:chExt cx="1498823" cy="407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8823" cy="407120"/>
            </a:xfrm>
            <a:custGeom>
              <a:avLst/>
              <a:gdLst/>
              <a:ahLst/>
              <a:cxnLst/>
              <a:rect r="r" b="b" t="t" l="l"/>
              <a:pathLst>
                <a:path h="407120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338248"/>
                  </a:lnTo>
                  <a:cubicBezTo>
                    <a:pt x="1498823" y="376285"/>
                    <a:pt x="1467988" y="407120"/>
                    <a:pt x="1429951" y="407120"/>
                  </a:cubicBezTo>
                  <a:lnTo>
                    <a:pt x="68871" y="407120"/>
                  </a:lnTo>
                  <a:cubicBezTo>
                    <a:pt x="50605" y="407120"/>
                    <a:pt x="33088" y="399863"/>
                    <a:pt x="20172" y="386948"/>
                  </a:cubicBezTo>
                  <a:cubicBezTo>
                    <a:pt x="7256" y="374032"/>
                    <a:pt x="0" y="356514"/>
                    <a:pt x="0" y="338248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98823" cy="44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259576" y="1134405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486416">
            <a:off x="715173" y="2570751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8" y="0"/>
                </a:lnTo>
                <a:lnTo>
                  <a:pt x="1386168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72842" y="5110256"/>
            <a:ext cx="12742315" cy="346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Comprehensive data quality framework telah diimplementasikan dengan multiple validation layers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Overall Data Quality Score: 94.2% - exceeding target threshold dari 90%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Validation checks include: null value detection, duplicate identification, referential integrity verification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Error Handling: Automated error logging dalam etl_log.error_logs dengan full context untuk debugging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Data Profiling: Complete statistics tentang data distribution dan completeness untuk setiap dimension dan fact table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32793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5225" y="7853797"/>
            <a:ext cx="1273579" cy="1217860"/>
          </a:xfrm>
          <a:custGeom>
            <a:avLst/>
            <a:gdLst/>
            <a:ahLst/>
            <a:cxnLst/>
            <a:rect r="r" b="b" t="t" l="l"/>
            <a:pathLst>
              <a:path h="1217860" w="1273579">
                <a:moveTo>
                  <a:pt x="0" y="0"/>
                </a:moveTo>
                <a:lnTo>
                  <a:pt x="1273579" y="0"/>
                </a:lnTo>
                <a:lnTo>
                  <a:pt x="1273579" y="1217859"/>
                </a:lnTo>
                <a:lnTo>
                  <a:pt x="0" y="12178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1292" y="724888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12465271" y="7592602"/>
            <a:ext cx="5354633" cy="535463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64175">
                    <a:alpha val="100000"/>
                  </a:srgbClr>
                </a:gs>
                <a:gs pos="100000">
                  <a:srgbClr val="3070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5400000">
            <a:off x="8238468" y="7542047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9" y="0"/>
                </a:lnTo>
                <a:lnTo>
                  <a:pt x="407139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35494" y="6902039"/>
            <a:ext cx="2789349" cy="2472061"/>
          </a:xfrm>
          <a:custGeom>
            <a:avLst/>
            <a:gdLst/>
            <a:ahLst/>
            <a:cxnLst/>
            <a:rect r="r" b="b" t="t" l="l"/>
            <a:pathLst>
              <a:path h="2472061" w="2789349">
                <a:moveTo>
                  <a:pt x="0" y="0"/>
                </a:moveTo>
                <a:lnTo>
                  <a:pt x="2789349" y="0"/>
                </a:lnTo>
                <a:lnTo>
                  <a:pt x="2789349" y="2472061"/>
                </a:lnTo>
                <a:lnTo>
                  <a:pt x="0" y="24720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87447" y="2075464"/>
            <a:ext cx="1527512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true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SECURITY &amp; ACCESS 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7447" y="4432054"/>
            <a:ext cx="1479411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Role-Based Access Control (RBAC) telah fully diimplementasikan dengan 4 distinct user accounts dan 3 roles: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datamart_user - Primary application user dengan full operational access untuk ETL dan business operations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user_bi - Read-only analyst role untuk business intelligence dan reporting tanpa write permissions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user_etl - ETL administrator dengan privileges untuk manage data pipelines dan perform maintenance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Audit Trail: Semua transactions tercatat dalam audit log untuk compliance dan troubleshooting purposes</a:t>
            </a:r>
          </a:p>
          <a:p>
            <a:pPr algn="just" marL="0" indent="0" lvl="0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42622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128255" y="8040440"/>
            <a:ext cx="1273579" cy="1217860"/>
          </a:xfrm>
          <a:custGeom>
            <a:avLst/>
            <a:gdLst/>
            <a:ahLst/>
            <a:cxnLst/>
            <a:rect r="r" b="b" t="t" l="l"/>
            <a:pathLst>
              <a:path h="1217860" w="1273579">
                <a:moveTo>
                  <a:pt x="0" y="0"/>
                </a:moveTo>
                <a:lnTo>
                  <a:pt x="1273579" y="0"/>
                </a:lnTo>
                <a:lnTo>
                  <a:pt x="1273579" y="1217860"/>
                </a:lnTo>
                <a:lnTo>
                  <a:pt x="0" y="1217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1292" y="724888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-218670" y="5356433"/>
            <a:ext cx="7803734" cy="78037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64175">
                    <a:alpha val="100000"/>
                  </a:srgbClr>
                </a:gs>
                <a:gs pos="100000">
                  <a:srgbClr val="3070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4626917"/>
            <a:ext cx="6556364" cy="4179682"/>
          </a:xfrm>
          <a:custGeom>
            <a:avLst/>
            <a:gdLst/>
            <a:ahLst/>
            <a:cxnLst/>
            <a:rect r="r" b="b" t="t" l="l"/>
            <a:pathLst>
              <a:path h="4179682" w="6556364">
                <a:moveTo>
                  <a:pt x="0" y="0"/>
                </a:moveTo>
                <a:lnTo>
                  <a:pt x="6556364" y="0"/>
                </a:lnTo>
                <a:lnTo>
                  <a:pt x="6556364" y="4179683"/>
                </a:lnTo>
                <a:lnTo>
                  <a:pt x="0" y="4179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6437" y="2075464"/>
            <a:ext cx="1527512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PERFORMANCE TESTING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24448" y="4348382"/>
            <a:ext cx="8957115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88"/>
              </a:lnSpc>
            </a:pPr>
            <a:r>
              <a:rPr lang="en-US" sz="2323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Query Performance Optimization mencapai excellent results:</a:t>
            </a:r>
          </a:p>
          <a:p>
            <a:pPr algn="just" marL="501725" indent="-250862" lvl="1">
              <a:lnSpc>
                <a:spcPts val="2788"/>
              </a:lnSpc>
              <a:buFont typeface="Arial"/>
              <a:buChar char="•"/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Simple SELECT queries: &lt;1ms </a:t>
            </a:r>
          </a:p>
          <a:p>
            <a:pPr algn="just" marL="501725" indent="-250862" lvl="1">
              <a:lnSpc>
                <a:spcPts val="2788"/>
              </a:lnSpc>
              <a:buFont typeface="Arial"/>
              <a:buChar char="•"/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Complex JOINs: &lt;2ms</a:t>
            </a:r>
          </a:p>
          <a:p>
            <a:pPr algn="just" marL="501725" indent="-250862" lvl="1">
              <a:lnSpc>
                <a:spcPts val="2788"/>
              </a:lnSpc>
              <a:buFont typeface="Arial"/>
              <a:buChar char="•"/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Aggregation queries: &lt;5ms </a:t>
            </a:r>
          </a:p>
          <a:p>
            <a:pPr algn="just" marL="501725" indent="-250862" lvl="1">
              <a:lnSpc>
                <a:spcPts val="2788"/>
              </a:lnSpc>
              <a:buFont typeface="Arial"/>
              <a:buChar char="•"/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Analytical views: &lt;10ms</a:t>
            </a:r>
          </a:p>
          <a:p>
            <a:pPr algn="just">
              <a:lnSpc>
                <a:spcPts val="2788"/>
              </a:lnSpc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Index Hit Ratio: 100% - menunjukkan semua queries memanfaatkan indexes dengan optimal</a:t>
            </a:r>
          </a:p>
          <a:p>
            <a:pPr algn="just">
              <a:lnSpc>
                <a:spcPts val="2788"/>
              </a:lnSpc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Database Size: ~50 MB untuk schema - very efficient untuk volume data saat ini</a:t>
            </a:r>
          </a:p>
          <a:p>
            <a:pPr algn="just" marL="0" indent="0" lvl="0">
              <a:lnSpc>
                <a:spcPts val="2788"/>
              </a:lnSpc>
              <a:spcBef>
                <a:spcPct val="0"/>
              </a:spcBef>
            </a:pP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Connection Pool: Stable dengan max 5 concurrent connections - adequate untuk operational workload</a:t>
            </a:r>
          </a:p>
          <a:p>
            <a:pPr algn="just" marL="0" indent="0" lvl="0">
              <a:lnSpc>
                <a:spcPts val="2788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8940431" y="8352768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8" y="0"/>
                </a:lnTo>
                <a:lnTo>
                  <a:pt x="407138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524504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065293" y="1352120"/>
            <a:ext cx="3835886" cy="2905683"/>
          </a:xfrm>
          <a:custGeom>
            <a:avLst/>
            <a:gdLst/>
            <a:ahLst/>
            <a:cxnLst/>
            <a:rect r="r" b="b" t="t" l="l"/>
            <a:pathLst>
              <a:path h="2905683" w="3835886">
                <a:moveTo>
                  <a:pt x="0" y="0"/>
                </a:moveTo>
                <a:lnTo>
                  <a:pt x="3835886" y="0"/>
                </a:lnTo>
                <a:lnTo>
                  <a:pt x="3835886" y="2905684"/>
                </a:lnTo>
                <a:lnTo>
                  <a:pt x="0" y="2905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84173" y="2026322"/>
            <a:ext cx="13035926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IMPLEMENTATION TIMELINE &amp; EXECUTION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84173" y="4524504"/>
            <a:ext cx="14292804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EXECUTION TIMELINE DARI INFRASTRUCTURE SETUP HINGGA PRODUCTION DEPLOYMENT: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28 NOVEMBER 2025 - INFRASTRUCTURE SETUP DAN ASSESSMENT (30 MINUTES)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1 DESEMBER 2025 - DATABASE PROVISIONING DAN INITIAL CONFIGURATION (1 HOUR)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1 DESEMBER 2025 - SCHEMA CREATION DAN 30+ TABLES IMPLEMENTATION (2 HOURS)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1 DESEMBER 2025 - ETL PROCEDURES DAN DATA TRANSFORMATION LOGIC (30 MINUTES)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1 DESEMBER 2025 - SECURITY CONFIGURATION DAN USER ROLE SETUP (15 MINUTES)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TOTAL DEPLOYMENT TIME: 4.5 HOURS DARI START HINGGA PRODUCTION READY STATUS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3520750">
            <a:off x="16088375" y="7495810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7" y="0"/>
                </a:lnTo>
                <a:lnTo>
                  <a:pt x="1386167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524504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4524504"/>
            <a:ext cx="15764661" cy="4733796"/>
            <a:chOff x="0" y="0"/>
            <a:chExt cx="1498823" cy="450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450065"/>
            </a:xfrm>
            <a:custGeom>
              <a:avLst/>
              <a:gdLst/>
              <a:ahLst/>
              <a:cxnLst/>
              <a:rect r="r" b="b" t="t" l="l"/>
              <a:pathLst>
                <a:path h="450065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381194"/>
                  </a:lnTo>
                  <a:cubicBezTo>
                    <a:pt x="1498823" y="399460"/>
                    <a:pt x="1491567" y="416977"/>
                    <a:pt x="1478651" y="429893"/>
                  </a:cubicBezTo>
                  <a:cubicBezTo>
                    <a:pt x="1465735" y="442809"/>
                    <a:pt x="1448217" y="450065"/>
                    <a:pt x="1429951" y="450065"/>
                  </a:cubicBezTo>
                  <a:lnTo>
                    <a:pt x="68871" y="450065"/>
                  </a:lnTo>
                  <a:cubicBezTo>
                    <a:pt x="50605" y="450065"/>
                    <a:pt x="33088" y="442809"/>
                    <a:pt x="20172" y="429893"/>
                  </a:cubicBezTo>
                  <a:cubicBezTo>
                    <a:pt x="7256" y="416977"/>
                    <a:pt x="0" y="399460"/>
                    <a:pt x="0" y="381194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48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1670" y="1480400"/>
            <a:ext cx="15764661" cy="2690468"/>
            <a:chOff x="0" y="0"/>
            <a:chExt cx="1498823" cy="2557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8823" cy="255796"/>
            </a:xfrm>
            <a:custGeom>
              <a:avLst/>
              <a:gdLst/>
              <a:ahLst/>
              <a:cxnLst/>
              <a:rect r="r" b="b" t="t" l="l"/>
              <a:pathLst>
                <a:path h="255796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186925"/>
                  </a:lnTo>
                  <a:cubicBezTo>
                    <a:pt x="1498823" y="205190"/>
                    <a:pt x="1491567" y="222708"/>
                    <a:pt x="1478651" y="235624"/>
                  </a:cubicBezTo>
                  <a:cubicBezTo>
                    <a:pt x="1465735" y="248540"/>
                    <a:pt x="1448217" y="255796"/>
                    <a:pt x="1429951" y="255796"/>
                  </a:cubicBezTo>
                  <a:lnTo>
                    <a:pt x="68871" y="255796"/>
                  </a:lnTo>
                  <a:cubicBezTo>
                    <a:pt x="30835" y="255796"/>
                    <a:pt x="0" y="224961"/>
                    <a:pt x="0" y="186925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98823" cy="293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75002" y="1880119"/>
            <a:ext cx="14537996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BACKUP &amp; DISASTER RECOVERY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59576" y="1134405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486416">
            <a:off x="715173" y="2570751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8" y="0"/>
                </a:lnTo>
                <a:lnTo>
                  <a:pt x="1386168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95692" y="4843527"/>
            <a:ext cx="14896616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1"/>
              </a:lnSpc>
            </a:pPr>
            <a:r>
              <a:rPr lang="en-US" sz="2701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Comprehensive backup strategy telah dikonfigurasi untuk ensure business continuity:</a:t>
            </a:r>
          </a:p>
          <a:p>
            <a:pPr algn="just">
              <a:lnSpc>
                <a:spcPts val="3241"/>
              </a:lnSpc>
            </a:pPr>
          </a:p>
          <a:p>
            <a:pPr algn="just">
              <a:lnSpc>
                <a:spcPts val="3241"/>
              </a:lnSpc>
            </a:pPr>
            <a:r>
              <a:rPr lang="en-US" sz="2701" b="true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sz="2701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utomated daily backup menggunakan pg_dump dengan full database snapshot</a:t>
            </a:r>
          </a:p>
          <a:p>
            <a:pPr algn="just">
              <a:lnSpc>
                <a:spcPts val="3241"/>
              </a:lnSpc>
            </a:pPr>
            <a:r>
              <a:rPr lang="en-US" sz="2701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Retention policy: 30-day rolling window untuk backup retention dan recovery point flexibility</a:t>
            </a:r>
          </a:p>
          <a:p>
            <a:pPr algn="just">
              <a:lnSpc>
                <a:spcPts val="3241"/>
              </a:lnSpc>
            </a:pPr>
            <a:r>
              <a:rPr lang="en-US" sz="2701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Recovery procedures documented untuk full database restore dan partial table recovery scenarios</a:t>
            </a:r>
          </a:p>
          <a:p>
            <a:pPr algn="just">
              <a:lnSpc>
                <a:spcPts val="3241"/>
              </a:lnSpc>
            </a:pPr>
            <a:r>
              <a:rPr lang="en-US" sz="2701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Docker volume approach memungkinkan quick recovery tanpa perlu full infrastructure rebuild</a:t>
            </a:r>
          </a:p>
          <a:p>
            <a:pPr algn="just">
              <a:lnSpc>
                <a:spcPts val="3241"/>
              </a:lnSpc>
            </a:pPr>
            <a:r>
              <a:rPr lang="en-US" sz="2701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Backup verification procedures dilakukan regularly untuk validate restore capability</a:t>
            </a:r>
          </a:p>
          <a:p>
            <a:pPr algn="just" marL="0" indent="0" lvl="0">
              <a:lnSpc>
                <a:spcPts val="32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00083" y="0"/>
            <a:ext cx="2863033" cy="3033678"/>
          </a:xfrm>
          <a:custGeom>
            <a:avLst/>
            <a:gdLst/>
            <a:ahLst/>
            <a:cxnLst/>
            <a:rect r="r" b="b" t="t" l="l"/>
            <a:pathLst>
              <a:path h="3033678" w="2863033">
                <a:moveTo>
                  <a:pt x="0" y="0"/>
                </a:moveTo>
                <a:lnTo>
                  <a:pt x="2863033" y="0"/>
                </a:lnTo>
                <a:lnTo>
                  <a:pt x="2863033" y="3033678"/>
                </a:lnTo>
                <a:lnTo>
                  <a:pt x="0" y="3033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162387">
            <a:off x="15963643" y="7470232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7" y="0"/>
                </a:lnTo>
                <a:lnTo>
                  <a:pt x="1386167" y="1540186"/>
                </a:lnTo>
                <a:lnTo>
                  <a:pt x="0" y="15401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69297" y="1575650"/>
            <a:ext cx="13690003" cy="15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6002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CHALLENGES ENCOUNTERED &amp; RESOLUTIONS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1600" y="3905121"/>
            <a:ext cx="1418959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SQL Syntax Conversion: Original scripts menggunakan SQL Server syntax - Solved dengan convert semua ke PostgreSQL PL/pgSQL standard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Configurat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ion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Man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ment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Initial PostgreSQL config file corruption - Resolved dengan implement Docker containerization untuk consistency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Data Type Mismatches: ETL procedure column references tidak match - Fixed dengan thorough testing dan column mapping documentation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Remote Access Setup: Authentication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fa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ilur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sa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at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test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g remote connections - Resolved dengan establish stable password-based auth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enti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ati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Seluruh challenges diselesaikan tanpa impact terhadap project timeline dan final deliverables</a:t>
            </a:r>
          </a:p>
          <a:p>
            <a:pPr algn="just" marL="0" indent="0" lvl="0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243786"/>
            <a:ext cx="15764661" cy="7829180"/>
            <a:chOff x="0" y="0"/>
            <a:chExt cx="1498823" cy="744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744358"/>
            </a:xfrm>
            <a:custGeom>
              <a:avLst/>
              <a:gdLst/>
              <a:ahLst/>
              <a:cxnLst/>
              <a:rect r="r" b="b" t="t" l="l"/>
              <a:pathLst>
                <a:path h="744358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75487"/>
                  </a:lnTo>
                  <a:cubicBezTo>
                    <a:pt x="1498823" y="693753"/>
                    <a:pt x="1491567" y="711270"/>
                    <a:pt x="1478651" y="724186"/>
                  </a:cubicBezTo>
                  <a:cubicBezTo>
                    <a:pt x="1465735" y="737102"/>
                    <a:pt x="1448217" y="744358"/>
                    <a:pt x="1429951" y="744358"/>
                  </a:cubicBezTo>
                  <a:lnTo>
                    <a:pt x="68871" y="744358"/>
                  </a:lnTo>
                  <a:cubicBezTo>
                    <a:pt x="30835" y="744358"/>
                    <a:pt x="0" y="713523"/>
                    <a:pt x="0" y="675487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82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7240683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28496" y="7960882"/>
            <a:ext cx="2706366" cy="2199537"/>
          </a:xfrm>
          <a:custGeom>
            <a:avLst/>
            <a:gdLst/>
            <a:ahLst/>
            <a:cxnLst/>
            <a:rect r="r" b="b" t="t" l="l"/>
            <a:pathLst>
              <a:path h="2199537" w="2706366">
                <a:moveTo>
                  <a:pt x="0" y="0"/>
                </a:moveTo>
                <a:lnTo>
                  <a:pt x="2706365" y="0"/>
                </a:lnTo>
                <a:lnTo>
                  <a:pt x="2706365" y="2199537"/>
                </a:lnTo>
                <a:lnTo>
                  <a:pt x="0" y="2199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74612" y="1659670"/>
            <a:ext cx="12653883" cy="100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4"/>
              </a:lnSpc>
            </a:pPr>
            <a:r>
              <a:rPr lang="en-US" sz="7414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PROJECT ACHIEVEMENTS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486416">
            <a:off x="16108879" y="2432307"/>
            <a:ext cx="1259494" cy="1399438"/>
          </a:xfrm>
          <a:custGeom>
            <a:avLst/>
            <a:gdLst/>
            <a:ahLst/>
            <a:cxnLst/>
            <a:rect r="r" b="b" t="t" l="l"/>
            <a:pathLst>
              <a:path h="1399438" w="1259494">
                <a:moveTo>
                  <a:pt x="0" y="0"/>
                </a:moveTo>
                <a:lnTo>
                  <a:pt x="1259494" y="0"/>
                </a:lnTo>
                <a:lnTo>
                  <a:pt x="1259494" y="1399437"/>
                </a:lnTo>
                <a:lnTo>
                  <a:pt x="0" y="13994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40467" y="4251903"/>
            <a:ext cx="14007066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558DFD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PRODUCTION: POSTGRESQL 14 BERJALAN STABIL DI AZURE, MENDUKUNG 8 SKEMA DAN LEBIH DARI 30 TABEL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558DFD"/>
                </a:solidFill>
                <a:latin typeface="DM Sans Bold"/>
                <a:ea typeface="DM Sans Bold"/>
                <a:cs typeface="DM Sans Bold"/>
                <a:sym typeface="DM Sans Bold"/>
              </a:rPr>
              <a:t>ETL PIPELINE: 6 PROSEDUR TERSIMPAN BEKERJA KONSISTEN DENGAN SKOR KUALITAS DATA 94,2%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558DFD"/>
                </a:solidFill>
                <a:latin typeface="DM Sans Bold"/>
                <a:ea typeface="DM Sans Bold"/>
                <a:cs typeface="DM Sans Bold"/>
                <a:sym typeface="DM Sans Bold"/>
              </a:rPr>
              <a:t>KEAMANAN: RBAC DITERAPKAN DENGAN 4 AKUN PENGGUNA DAN AUDIT DETAIL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558DFD"/>
                </a:solidFill>
                <a:latin typeface="DM Sans Bold"/>
                <a:ea typeface="DM Sans Bold"/>
                <a:cs typeface="DM Sans Bold"/>
                <a:sym typeface="DM Sans Bold"/>
              </a:rPr>
              <a:t>KINERJA: 42 INDEKS DITINGKATKAN DEMI RESPONS KUERI SUPER CEPAT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558DFD"/>
                </a:solidFill>
                <a:latin typeface="DM Sans Bold"/>
                <a:ea typeface="DM Sans Bold"/>
                <a:cs typeface="DM Sans Bold"/>
                <a:sym typeface="DM Sans Bold"/>
              </a:rPr>
              <a:t>DOKUMENTASI: 2.085+ BARIS DOKUMENTASI LENGKAP DALAM BERBAGAI BAHASA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558DFD"/>
                </a:solidFill>
                <a:latin typeface="DM Sans Bold"/>
                <a:ea typeface="DM Sans Bold"/>
                <a:cs typeface="DM Sans Bold"/>
                <a:sym typeface="DM Sans Bold"/>
              </a:rPr>
              <a:t>KOORDINASI TIM: KERJA PARALEL BERLANGSUNG SUKSES DENGAN PEMBAGIAN TUGAS JELAS DAN KOMUNIKASI YANG BAIK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509370"/>
            <a:ext cx="15764661" cy="2690468"/>
            <a:chOff x="0" y="0"/>
            <a:chExt cx="1498823" cy="2557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255796"/>
            </a:xfrm>
            <a:custGeom>
              <a:avLst/>
              <a:gdLst/>
              <a:ahLst/>
              <a:cxnLst/>
              <a:rect r="r" b="b" t="t" l="l"/>
              <a:pathLst>
                <a:path h="255796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186925"/>
                  </a:lnTo>
                  <a:cubicBezTo>
                    <a:pt x="1498823" y="205190"/>
                    <a:pt x="1491567" y="222708"/>
                    <a:pt x="1478651" y="235624"/>
                  </a:cubicBezTo>
                  <a:cubicBezTo>
                    <a:pt x="1465735" y="248540"/>
                    <a:pt x="1448217" y="255796"/>
                    <a:pt x="1429951" y="255796"/>
                  </a:cubicBezTo>
                  <a:lnTo>
                    <a:pt x="68871" y="255796"/>
                  </a:lnTo>
                  <a:cubicBezTo>
                    <a:pt x="30835" y="255796"/>
                    <a:pt x="0" y="224961"/>
                    <a:pt x="0" y="186925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293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13848" y="909088"/>
            <a:ext cx="13260304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KEY LEARNINGS &amp; BEST PRACTICES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61670" y="3827046"/>
            <a:ext cx="15764661" cy="5994682"/>
            <a:chOff x="0" y="0"/>
            <a:chExt cx="1498823" cy="569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8823" cy="569943"/>
            </a:xfrm>
            <a:custGeom>
              <a:avLst/>
              <a:gdLst/>
              <a:ahLst/>
              <a:cxnLst/>
              <a:rect r="r" b="b" t="t" l="l"/>
              <a:pathLst>
                <a:path h="569943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501072"/>
                  </a:lnTo>
                  <a:cubicBezTo>
                    <a:pt x="1498823" y="539109"/>
                    <a:pt x="1467988" y="569943"/>
                    <a:pt x="1429951" y="569943"/>
                  </a:cubicBezTo>
                  <a:lnTo>
                    <a:pt x="68871" y="569943"/>
                  </a:lnTo>
                  <a:cubicBezTo>
                    <a:pt x="50605" y="569943"/>
                    <a:pt x="33088" y="562687"/>
                    <a:pt x="20172" y="549771"/>
                  </a:cubicBezTo>
                  <a:cubicBezTo>
                    <a:pt x="7256" y="536856"/>
                    <a:pt x="0" y="519338"/>
                    <a:pt x="0" y="501072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98823" cy="60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259576" y="1134405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486416">
            <a:off x="715173" y="2570751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8" y="0"/>
                </a:lnTo>
                <a:lnTo>
                  <a:pt x="1386168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32777" y="4300652"/>
            <a:ext cx="14022446" cy="505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5839" indent="-23792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3">
                <a:solidFill>
                  <a:srgbClr val="26417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Migrasi Platf</a:t>
            </a:r>
            <a:r>
              <a:rPr lang="en-US" b="true" sz="2203">
                <a:solidFill>
                  <a:srgbClr val="26417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orm: </a:t>
            </a: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Perbedaan platform database (SQL Server vs PostgreSQL) menuntut pengujian menyeluruh dan dokumentasi yang terperinci.</a:t>
            </a:r>
          </a:p>
          <a:p>
            <a:pPr algn="ctr" marL="475839" indent="-23792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3">
                <a:solidFill>
                  <a:srgbClr val="26417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 as Code: </a:t>
            </a: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Kontainerisasi Docker memberikan kemampuan deployment yang dapat diulang (reproducible) dan skalabilitas yang lebih mudah.</a:t>
            </a:r>
          </a:p>
          <a:p>
            <a:pPr algn="ctr" marL="475839" indent="-23792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3">
                <a:solidFill>
                  <a:srgbClr val="26417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Ketelitian Dokumentasi: </a:t>
            </a: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Dokumentasi langkah-demi-langkah yang komprehensif sangat krusial untuk sistem produksi dan proses transfer pengetahuan.</a:t>
            </a:r>
          </a:p>
          <a:p>
            <a:pPr algn="ctr" marL="475839" indent="-23792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3">
                <a:solidFill>
                  <a:srgbClr val="26417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Prioritas Keamanan (Security First):</a:t>
            </a: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 Implementasi RBAC (Role-Based Access Control) sejak awal akan mencegah masalah kontrol akses di masa depan.</a:t>
            </a:r>
          </a:p>
          <a:p>
            <a:pPr algn="ctr" marL="475839" indent="-23792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3">
                <a:solidFill>
                  <a:srgbClr val="26417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 Pengujian: </a:t>
            </a: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Pengujian performa yang komprehensif berguna untuk mengidentifikasi hambatan (bottlenecks) sebelum deployment ke production.</a:t>
            </a:r>
          </a:p>
          <a:p>
            <a:pPr algn="ctr" marL="475839" indent="-237920" lvl="1">
              <a:lnSpc>
                <a:spcPts val="30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3">
                <a:solidFill>
                  <a:srgbClr val="26417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Kolaborasi Tim: </a:t>
            </a:r>
            <a:r>
              <a:rPr lang="en-US" sz="2203">
                <a:solidFill>
                  <a:srgbClr val="264175"/>
                </a:solidFill>
                <a:latin typeface="Canva Sans"/>
                <a:ea typeface="Canva Sans"/>
                <a:cs typeface="Canva Sans"/>
                <a:sym typeface="Canva Sans"/>
              </a:rPr>
              <a:t>Definisi peran yang jelas memungkinkan pekerjaan paralel berjalan lancar tanpa konflik integrasi.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32793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5225" y="7853797"/>
            <a:ext cx="1273579" cy="1217860"/>
          </a:xfrm>
          <a:custGeom>
            <a:avLst/>
            <a:gdLst/>
            <a:ahLst/>
            <a:cxnLst/>
            <a:rect r="r" b="b" t="t" l="l"/>
            <a:pathLst>
              <a:path h="1217860" w="1273579">
                <a:moveTo>
                  <a:pt x="0" y="0"/>
                </a:moveTo>
                <a:lnTo>
                  <a:pt x="1273579" y="0"/>
                </a:lnTo>
                <a:lnTo>
                  <a:pt x="1273579" y="1217859"/>
                </a:lnTo>
                <a:lnTo>
                  <a:pt x="0" y="12178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1292" y="724888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8123503" y="8462726"/>
            <a:ext cx="5354633" cy="535463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64175">
                    <a:alpha val="100000"/>
                  </a:srgbClr>
                </a:gs>
                <a:gs pos="100000">
                  <a:srgbClr val="3070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5400000">
            <a:off x="8238468" y="7542047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9" y="0"/>
                </a:lnTo>
                <a:lnTo>
                  <a:pt x="407139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25011" y="8040440"/>
            <a:ext cx="2789349" cy="2472061"/>
          </a:xfrm>
          <a:custGeom>
            <a:avLst/>
            <a:gdLst/>
            <a:ahLst/>
            <a:cxnLst/>
            <a:rect r="r" b="b" t="t" l="l"/>
            <a:pathLst>
              <a:path h="2472061" w="2789349">
                <a:moveTo>
                  <a:pt x="0" y="0"/>
                </a:moveTo>
                <a:lnTo>
                  <a:pt x="2789349" y="0"/>
                </a:lnTo>
                <a:lnTo>
                  <a:pt x="2789349" y="2472061"/>
                </a:lnTo>
                <a:lnTo>
                  <a:pt x="0" y="24720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87447" y="2075464"/>
            <a:ext cx="1527512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true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OPERATIONAL READINESS &amp; SUPPORT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7447" y="4432054"/>
            <a:ext cx="14794116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Operasional Harian: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Daftar periksa (checklist) startup yang komprehensif dan dokumentasi prosedur operasional telah tersedia.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Kerangka Kerja Pemantauan: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Pemeriksaan kesehatan sistem (health checks), ambang batas peringatan (alert thresholds), dan prosedur pemantauan telah dikonfigurasi.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Panduan Pemecahan Masalah: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Masalah umum dan prosedur penyelesaiannya telah didokumentasikan untuk memastikan penyelesaian masalah yang cepat.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Manajemen Pengguna: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 Prosedur untuk pembuatan pengguna, manajemen hak akses, dan pencabutan akses telah ditetapkan.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Struktur Dukungan: </a:t>
            </a:r>
            <a:r>
              <a:rPr lang="en-US" sz="2499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Tim Kelompok 19 tersedia untuk dukungan operasional dengan jalur eskalasi yang terdokumentasi.</a:t>
            </a:r>
          </a:p>
          <a:p>
            <a:pPr algn="just" marL="0" indent="0" lvl="0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42622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7326199"/>
            <a:chOff x="0" y="0"/>
            <a:chExt cx="1498823" cy="696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696537"/>
            </a:xfrm>
            <a:custGeom>
              <a:avLst/>
              <a:gdLst/>
              <a:ahLst/>
              <a:cxnLst/>
              <a:rect r="r" b="b" t="t" l="l"/>
              <a:pathLst>
                <a:path h="696537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627666"/>
                  </a:lnTo>
                  <a:cubicBezTo>
                    <a:pt x="1498823" y="645932"/>
                    <a:pt x="1491567" y="663449"/>
                    <a:pt x="1478651" y="676365"/>
                  </a:cubicBezTo>
                  <a:cubicBezTo>
                    <a:pt x="1465735" y="689281"/>
                    <a:pt x="1448217" y="696537"/>
                    <a:pt x="1429951" y="696537"/>
                  </a:cubicBezTo>
                  <a:lnTo>
                    <a:pt x="68871" y="696537"/>
                  </a:lnTo>
                  <a:cubicBezTo>
                    <a:pt x="50605" y="696537"/>
                    <a:pt x="33088" y="689281"/>
                    <a:pt x="20172" y="676365"/>
                  </a:cubicBezTo>
                  <a:cubicBezTo>
                    <a:pt x="7256" y="663449"/>
                    <a:pt x="0" y="645932"/>
                    <a:pt x="0" y="627666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734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128255" y="8040440"/>
            <a:ext cx="1273579" cy="1217860"/>
          </a:xfrm>
          <a:custGeom>
            <a:avLst/>
            <a:gdLst/>
            <a:ahLst/>
            <a:cxnLst/>
            <a:rect r="r" b="b" t="t" l="l"/>
            <a:pathLst>
              <a:path h="1217860" w="1273579">
                <a:moveTo>
                  <a:pt x="0" y="0"/>
                </a:moveTo>
                <a:lnTo>
                  <a:pt x="1273579" y="0"/>
                </a:lnTo>
                <a:lnTo>
                  <a:pt x="1273579" y="1217860"/>
                </a:lnTo>
                <a:lnTo>
                  <a:pt x="0" y="1217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1292" y="724888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-218670" y="5356433"/>
            <a:ext cx="7803734" cy="78037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64175">
                    <a:alpha val="100000"/>
                  </a:srgbClr>
                </a:gs>
                <a:gs pos="100000">
                  <a:srgbClr val="3070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4626917"/>
            <a:ext cx="6556364" cy="4179682"/>
          </a:xfrm>
          <a:custGeom>
            <a:avLst/>
            <a:gdLst/>
            <a:ahLst/>
            <a:cxnLst/>
            <a:rect r="r" b="b" t="t" l="l"/>
            <a:pathLst>
              <a:path h="4179682" w="6556364">
                <a:moveTo>
                  <a:pt x="0" y="0"/>
                </a:moveTo>
                <a:lnTo>
                  <a:pt x="6556364" y="0"/>
                </a:lnTo>
                <a:lnTo>
                  <a:pt x="6556364" y="4179683"/>
                </a:lnTo>
                <a:lnTo>
                  <a:pt x="0" y="4179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6437" y="2075464"/>
            <a:ext cx="1527512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FUTURE ENHANCEMENTS &amp; ROADMAP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73183" y="4348382"/>
            <a:ext cx="9608381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1725" indent="-250862" lvl="1">
              <a:lnSpc>
                <a:spcPts val="2788"/>
              </a:lnSpc>
              <a:buFont typeface="Arial"/>
              <a:buChar char="•"/>
            </a:pPr>
            <a:r>
              <a:rPr lang="en-US" b="true" sz="2323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Jangka Pendek (2 Minggu Ke Depan): </a:t>
            </a: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Memuat data historis dar</a:t>
            </a: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i sistem sumber, memfinalisasi koneksi dasbor Tableau, dan melakukan pengujian penerimaan pengguna (User Acceptance Testing).</a:t>
            </a:r>
          </a:p>
          <a:p>
            <a:pPr algn="just" marL="501725" indent="-250862" lvl="1">
              <a:lnSpc>
                <a:spcPts val="2788"/>
              </a:lnSpc>
              <a:buFont typeface="Arial"/>
              <a:buChar char="•"/>
            </a:pPr>
            <a:r>
              <a:rPr lang="en-US" b="true" sz="2323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Kuartal 1 2026: </a:t>
            </a: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Mengimplementasika</a:t>
            </a: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n kapabilitas analitik tingkat lanjut, membangun pipeline streaming data real-time, dan mengonfigurasi penjadwalan ETL otomatis.</a:t>
            </a:r>
          </a:p>
          <a:p>
            <a:pPr algn="just" marL="501725" indent="-250862" lvl="1">
              <a:lnSpc>
                <a:spcPts val="2788"/>
              </a:lnSpc>
              <a:buFont typeface="Arial"/>
              <a:buChar char="•"/>
            </a:pPr>
            <a:r>
              <a:rPr lang="en-US" b="true" sz="2323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Jangka Panjang: </a:t>
            </a: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Pengembangan versi dasbor mobile, integrasi model machine learning, dan optimasi performa untuk dataset besar.</a:t>
            </a:r>
          </a:p>
          <a:p>
            <a:pPr algn="just" marL="501725" indent="-250862" lvl="1">
              <a:lnSpc>
                <a:spcPts val="278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23">
                <a:solidFill>
                  <a:srgbClr val="072542"/>
                </a:solidFill>
                <a:latin typeface="DM Sans Bold"/>
                <a:ea typeface="DM Sans Bold"/>
                <a:cs typeface="DM Sans Bold"/>
                <a:sym typeface="DM Sans Bold"/>
              </a:rPr>
              <a:t>Lingkup Ekspansi: </a:t>
            </a:r>
            <a:r>
              <a:rPr lang="en-US" sz="2323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Penyediaan akses API untuk integrasi pihak ketiga dan implementasi fitur keamanan tingkat lanjut.</a:t>
            </a:r>
          </a:p>
          <a:p>
            <a:pPr algn="just" marL="0" indent="0" lvl="0">
              <a:lnSpc>
                <a:spcPts val="2788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8940431" y="8352768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8" y="0"/>
                </a:lnTo>
                <a:lnTo>
                  <a:pt x="407138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509370"/>
            <a:ext cx="15764661" cy="2690468"/>
            <a:chOff x="0" y="0"/>
            <a:chExt cx="1498823" cy="2557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255796"/>
            </a:xfrm>
            <a:custGeom>
              <a:avLst/>
              <a:gdLst/>
              <a:ahLst/>
              <a:cxnLst/>
              <a:rect r="r" b="b" t="t" l="l"/>
              <a:pathLst>
                <a:path h="255796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186925"/>
                  </a:lnTo>
                  <a:cubicBezTo>
                    <a:pt x="1498823" y="205190"/>
                    <a:pt x="1491567" y="222708"/>
                    <a:pt x="1478651" y="235624"/>
                  </a:cubicBezTo>
                  <a:cubicBezTo>
                    <a:pt x="1465735" y="248540"/>
                    <a:pt x="1448217" y="255796"/>
                    <a:pt x="1429951" y="255796"/>
                  </a:cubicBezTo>
                  <a:lnTo>
                    <a:pt x="68871" y="255796"/>
                  </a:lnTo>
                  <a:cubicBezTo>
                    <a:pt x="30835" y="255796"/>
                    <a:pt x="0" y="224961"/>
                    <a:pt x="0" y="186925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293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13848" y="909088"/>
            <a:ext cx="13260304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DATABASE ACCESS INFORMATION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259576" y="1134405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486416">
            <a:off x="715173" y="2570751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8" y="0"/>
                </a:lnTo>
                <a:lnTo>
                  <a:pt x="1386168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Code image preview"/>
          <p:cNvSpPr/>
          <p:nvPr/>
        </p:nvSpPr>
        <p:spPr>
          <a:xfrm flipH="false" flipV="false" rot="0">
            <a:off x="2513848" y="3882091"/>
            <a:ext cx="13862811" cy="5738857"/>
          </a:xfrm>
          <a:custGeom>
            <a:avLst/>
            <a:gdLst/>
            <a:ahLst/>
            <a:cxnLst/>
            <a:rect r="r" b="b" t="t" l="l"/>
            <a:pathLst>
              <a:path h="5738857" w="13862811">
                <a:moveTo>
                  <a:pt x="0" y="0"/>
                </a:moveTo>
                <a:lnTo>
                  <a:pt x="13862812" y="0"/>
                </a:lnTo>
                <a:lnTo>
                  <a:pt x="13862812" y="5738857"/>
                </a:lnTo>
                <a:lnTo>
                  <a:pt x="0" y="5738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70780" r="0" b="-7078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270595" y="5562876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8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8" y="0"/>
                </a:lnTo>
                <a:lnTo>
                  <a:pt x="5049388" y="576249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509370"/>
            <a:ext cx="15764661" cy="1797994"/>
            <a:chOff x="0" y="0"/>
            <a:chExt cx="1498823" cy="170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170944"/>
            </a:xfrm>
            <a:custGeom>
              <a:avLst/>
              <a:gdLst/>
              <a:ahLst/>
              <a:cxnLst/>
              <a:rect r="r" b="b" t="t" l="l"/>
              <a:pathLst>
                <a:path h="170944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102073"/>
                  </a:lnTo>
                  <a:cubicBezTo>
                    <a:pt x="1498823" y="120339"/>
                    <a:pt x="1491567" y="137856"/>
                    <a:pt x="1478651" y="150772"/>
                  </a:cubicBezTo>
                  <a:cubicBezTo>
                    <a:pt x="1465735" y="163688"/>
                    <a:pt x="1448217" y="170944"/>
                    <a:pt x="1429951" y="170944"/>
                  </a:cubicBezTo>
                  <a:lnTo>
                    <a:pt x="68871" y="170944"/>
                  </a:lnTo>
                  <a:cubicBezTo>
                    <a:pt x="50605" y="170944"/>
                    <a:pt x="33088" y="163688"/>
                    <a:pt x="20172" y="150772"/>
                  </a:cubicBezTo>
                  <a:cubicBezTo>
                    <a:pt x="7256" y="137856"/>
                    <a:pt x="0" y="120339"/>
                    <a:pt x="0" y="102073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209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259576" y="1134405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486416">
            <a:off x="715173" y="638274"/>
            <a:ext cx="1386167" cy="1540186"/>
          </a:xfrm>
          <a:custGeom>
            <a:avLst/>
            <a:gdLst/>
            <a:ahLst/>
            <a:cxnLst/>
            <a:rect r="r" b="b" t="t" l="l"/>
            <a:pathLst>
              <a:path h="1540186" w="1386167">
                <a:moveTo>
                  <a:pt x="0" y="0"/>
                </a:moveTo>
                <a:lnTo>
                  <a:pt x="1386168" y="0"/>
                </a:lnTo>
                <a:lnTo>
                  <a:pt x="1386168" y="1540185"/>
                </a:lnTo>
                <a:lnTo>
                  <a:pt x="0" y="1540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906" y="2574802"/>
            <a:ext cx="11665435" cy="7334642"/>
          </a:xfrm>
          <a:custGeom>
            <a:avLst/>
            <a:gdLst/>
            <a:ahLst/>
            <a:cxnLst/>
            <a:rect r="r" b="b" t="t" l="l"/>
            <a:pathLst>
              <a:path h="7334642" w="11665435">
                <a:moveTo>
                  <a:pt x="0" y="0"/>
                </a:moveTo>
                <a:lnTo>
                  <a:pt x="11665435" y="0"/>
                </a:lnTo>
                <a:lnTo>
                  <a:pt x="11665435" y="7334642"/>
                </a:lnTo>
                <a:lnTo>
                  <a:pt x="0" y="73346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13848" y="909088"/>
            <a:ext cx="13260304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DASHBAORD SEMENTARA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31841" y="2700000"/>
            <a:ext cx="5472248" cy="705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6702" indent="-218351" lvl="1">
              <a:lnSpc>
                <a:spcPts val="2831"/>
              </a:lnSpc>
              <a:buAutoNum type="arabicPeriod" startAt="1"/>
            </a:pPr>
            <a:r>
              <a:rPr lang="en-US" sz="2022">
                <a:solidFill>
                  <a:srgbClr val="F2EFF1"/>
                </a:solidFill>
                <a:latin typeface="Canva Sans"/>
                <a:ea typeface="Canva Sans"/>
                <a:cs typeface="Canva Sans"/>
                <a:sym typeface="Canva Sans"/>
              </a:rPr>
              <a:t>Persuratan (Administrasi):</a:t>
            </a:r>
          </a:p>
          <a:p>
            <a:pPr algn="just" marL="436702" indent="-218351" lvl="1">
              <a:lnSpc>
                <a:spcPts val="2831"/>
              </a:lnSpc>
              <a:buFont typeface="Arial"/>
              <a:buChar char="•"/>
            </a:pPr>
            <a:r>
              <a:rPr lang="en-US" sz="2022">
                <a:solidFill>
                  <a:srgbClr val="F2EFF1"/>
                </a:solidFill>
                <a:latin typeface="Canva Sans"/>
                <a:ea typeface="Canva Sans"/>
                <a:cs typeface="Canva Sans"/>
                <a:sym typeface="Canva Sans"/>
              </a:rPr>
              <a:t>Volume Kerja: Surat dengan prioritas "URGENT" adalah yang terbanyak, menunjukkan ritme kerja organisasi yang serba cepat/mendesak.</a:t>
            </a:r>
          </a:p>
          <a:p>
            <a:pPr algn="just" marL="436702" indent="-218351" lvl="1">
              <a:lnSpc>
                <a:spcPts val="2831"/>
              </a:lnSpc>
              <a:buFont typeface="Arial"/>
              <a:buChar char="•"/>
            </a:pPr>
            <a:r>
              <a:rPr lang="en-US" sz="2022">
                <a:solidFill>
                  <a:srgbClr val="F2EFF1"/>
                </a:solidFill>
                <a:latin typeface="Canva Sans"/>
                <a:ea typeface="Canva Sans"/>
                <a:cs typeface="Canva Sans"/>
                <a:sym typeface="Canva Sans"/>
              </a:rPr>
              <a:t>Efisiensi: Jumlah surat "DITOLAK" cukup tinggi (hampir setara dengan yang "SELESAI"). Ini sinyal perlunya perbaikan dalam alur pengajuan agar tidak buang waktu.</a:t>
            </a:r>
          </a:p>
          <a:p>
            <a:pPr algn="just" marL="436702" indent="-218351" lvl="1">
              <a:lnSpc>
                <a:spcPts val="2831"/>
              </a:lnSpc>
              <a:buAutoNum type="arabicPeriod" startAt="1"/>
            </a:pPr>
            <a:r>
              <a:rPr lang="en-US" sz="2022">
                <a:solidFill>
                  <a:srgbClr val="F2EFF1"/>
                </a:solidFill>
                <a:latin typeface="Canva Sans"/>
                <a:ea typeface="Canva Sans"/>
                <a:cs typeface="Canva Sans"/>
                <a:sym typeface="Canva Sans"/>
              </a:rPr>
              <a:t>Manajemen Aset:</a:t>
            </a:r>
          </a:p>
          <a:p>
            <a:pPr algn="just" marL="436702" indent="-218351" lvl="1">
              <a:lnSpc>
                <a:spcPts val="2831"/>
              </a:lnSpc>
              <a:buFont typeface="Arial"/>
              <a:buChar char="•"/>
            </a:pPr>
            <a:r>
              <a:rPr lang="en-US" sz="2022">
                <a:solidFill>
                  <a:srgbClr val="F2EFF1"/>
                </a:solidFill>
                <a:latin typeface="Canva Sans"/>
                <a:ea typeface="Canva Sans"/>
                <a:cs typeface="Canva Sans"/>
                <a:sym typeface="Canva Sans"/>
              </a:rPr>
              <a:t>Kondisi Aset: Mayoritas aset berstatus "PERLU PERAWATAN". Organisasi harus memprioritaskan anggaran maintenance rutin sebelum aset menjadi rusak berat.</a:t>
            </a:r>
          </a:p>
          <a:p>
            <a:pPr algn="just" marL="436702" indent="-218351" lvl="1">
              <a:lnSpc>
                <a:spcPts val="2831"/>
              </a:lnSpc>
              <a:buAutoNum type="arabicPeriod" startAt="1"/>
            </a:pPr>
            <a:r>
              <a:rPr lang="en-US" sz="2022">
                <a:solidFill>
                  <a:srgbClr val="F2EFF1"/>
                </a:solidFill>
                <a:latin typeface="Canva Sans"/>
                <a:ea typeface="Canva Sans"/>
                <a:cs typeface="Canva Sans"/>
                <a:sym typeface="Canva Sans"/>
              </a:rPr>
              <a:t>Kesimpulan: Organisasi menghadapi beban administrasi mendesak yang tinggi dan memiliki tunggakan pemeliharaan fasilitas yang signifikan di tahun 2025.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42622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1670" y="1480400"/>
            <a:ext cx="15764661" cy="8291036"/>
            <a:chOff x="0" y="0"/>
            <a:chExt cx="1498823" cy="788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823" cy="788269"/>
            </a:xfrm>
            <a:custGeom>
              <a:avLst/>
              <a:gdLst/>
              <a:ahLst/>
              <a:cxnLst/>
              <a:rect r="r" b="b" t="t" l="l"/>
              <a:pathLst>
                <a:path h="788269" w="1498823">
                  <a:moveTo>
                    <a:pt x="68871" y="0"/>
                  </a:moveTo>
                  <a:lnTo>
                    <a:pt x="1429951" y="0"/>
                  </a:lnTo>
                  <a:cubicBezTo>
                    <a:pt x="1448217" y="0"/>
                    <a:pt x="1465735" y="7256"/>
                    <a:pt x="1478651" y="20172"/>
                  </a:cubicBezTo>
                  <a:cubicBezTo>
                    <a:pt x="1491567" y="33088"/>
                    <a:pt x="1498823" y="50605"/>
                    <a:pt x="1498823" y="68871"/>
                  </a:cubicBezTo>
                  <a:lnTo>
                    <a:pt x="1498823" y="719398"/>
                  </a:lnTo>
                  <a:cubicBezTo>
                    <a:pt x="1498823" y="737664"/>
                    <a:pt x="1491567" y="755181"/>
                    <a:pt x="1478651" y="768097"/>
                  </a:cubicBezTo>
                  <a:cubicBezTo>
                    <a:pt x="1465735" y="781013"/>
                    <a:pt x="1448217" y="788269"/>
                    <a:pt x="1429951" y="788269"/>
                  </a:cubicBezTo>
                  <a:lnTo>
                    <a:pt x="68871" y="788269"/>
                  </a:lnTo>
                  <a:cubicBezTo>
                    <a:pt x="50605" y="788269"/>
                    <a:pt x="33088" y="781013"/>
                    <a:pt x="20172" y="768097"/>
                  </a:cubicBezTo>
                  <a:cubicBezTo>
                    <a:pt x="7256" y="755181"/>
                    <a:pt x="0" y="737664"/>
                    <a:pt x="0" y="719398"/>
                  </a:cubicBezTo>
                  <a:lnTo>
                    <a:pt x="0" y="68871"/>
                  </a:lnTo>
                  <a:cubicBezTo>
                    <a:pt x="0" y="50605"/>
                    <a:pt x="7256" y="33088"/>
                    <a:pt x="20172" y="20172"/>
                  </a:cubicBezTo>
                  <a:cubicBezTo>
                    <a:pt x="33088" y="7256"/>
                    <a:pt x="50605" y="0"/>
                    <a:pt x="68871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823" cy="82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128255" y="8040440"/>
            <a:ext cx="1273579" cy="1217860"/>
          </a:xfrm>
          <a:custGeom>
            <a:avLst/>
            <a:gdLst/>
            <a:ahLst/>
            <a:cxnLst/>
            <a:rect r="r" b="b" t="t" l="l"/>
            <a:pathLst>
              <a:path h="1217860" w="1273579">
                <a:moveTo>
                  <a:pt x="0" y="0"/>
                </a:moveTo>
                <a:lnTo>
                  <a:pt x="1273579" y="0"/>
                </a:lnTo>
                <a:lnTo>
                  <a:pt x="1273579" y="1217860"/>
                </a:lnTo>
                <a:lnTo>
                  <a:pt x="0" y="1217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61292" y="724888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24694" y="3414479"/>
            <a:ext cx="6198034" cy="6356958"/>
          </a:xfrm>
          <a:custGeom>
            <a:avLst/>
            <a:gdLst/>
            <a:ahLst/>
            <a:cxnLst/>
            <a:rect r="r" b="b" t="t" l="l"/>
            <a:pathLst>
              <a:path h="6356958" w="6198034">
                <a:moveTo>
                  <a:pt x="0" y="0"/>
                </a:moveTo>
                <a:lnTo>
                  <a:pt x="6198034" y="0"/>
                </a:lnTo>
                <a:lnTo>
                  <a:pt x="619803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85162" y="3414479"/>
            <a:ext cx="7033979" cy="6356958"/>
          </a:xfrm>
          <a:custGeom>
            <a:avLst/>
            <a:gdLst/>
            <a:ahLst/>
            <a:cxnLst/>
            <a:rect r="r" b="b" t="t" l="l"/>
            <a:pathLst>
              <a:path h="6356958" w="7033979">
                <a:moveTo>
                  <a:pt x="0" y="0"/>
                </a:moveTo>
                <a:lnTo>
                  <a:pt x="7033979" y="0"/>
                </a:lnTo>
                <a:lnTo>
                  <a:pt x="703397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06437" y="2075464"/>
            <a:ext cx="15275127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DOKUMENTASI DEPLOY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64175">
                <a:alpha val="100000"/>
              </a:srgbClr>
            </a:gs>
            <a:gs pos="100000">
              <a:srgbClr val="3070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0" y="0"/>
                </a:moveTo>
                <a:lnTo>
                  <a:pt x="5049387" y="0"/>
                </a:lnTo>
                <a:lnTo>
                  <a:pt x="5049387" y="5762496"/>
                </a:lnTo>
                <a:lnTo>
                  <a:pt x="0" y="5762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38613" y="4524504"/>
            <a:ext cx="5049387" cy="5762496"/>
          </a:xfrm>
          <a:custGeom>
            <a:avLst/>
            <a:gdLst/>
            <a:ahLst/>
            <a:cxnLst/>
            <a:rect r="r" b="b" t="t" l="l"/>
            <a:pathLst>
              <a:path h="5762496" w="5049387">
                <a:moveTo>
                  <a:pt x="5049387" y="5762496"/>
                </a:moveTo>
                <a:lnTo>
                  <a:pt x="0" y="5762496"/>
                </a:lnTo>
                <a:lnTo>
                  <a:pt x="0" y="0"/>
                </a:lnTo>
                <a:lnTo>
                  <a:pt x="5049387" y="0"/>
                </a:lnTo>
                <a:lnTo>
                  <a:pt x="5049387" y="5762496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2912" y="2572563"/>
            <a:ext cx="13078372" cy="4669383"/>
            <a:chOff x="0" y="0"/>
            <a:chExt cx="1243424" cy="4439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3424" cy="443941"/>
            </a:xfrm>
            <a:custGeom>
              <a:avLst/>
              <a:gdLst/>
              <a:ahLst/>
              <a:cxnLst/>
              <a:rect r="r" b="b" t="t" l="l"/>
              <a:pathLst>
                <a:path h="443941" w="1243424">
                  <a:moveTo>
                    <a:pt x="83017" y="0"/>
                  </a:moveTo>
                  <a:lnTo>
                    <a:pt x="1160407" y="0"/>
                  </a:lnTo>
                  <a:cubicBezTo>
                    <a:pt x="1206256" y="0"/>
                    <a:pt x="1243424" y="37168"/>
                    <a:pt x="1243424" y="83017"/>
                  </a:cubicBezTo>
                  <a:lnTo>
                    <a:pt x="1243424" y="360924"/>
                  </a:lnTo>
                  <a:cubicBezTo>
                    <a:pt x="1243424" y="406773"/>
                    <a:pt x="1206256" y="443941"/>
                    <a:pt x="1160407" y="443941"/>
                  </a:cubicBezTo>
                  <a:lnTo>
                    <a:pt x="83017" y="443941"/>
                  </a:lnTo>
                  <a:cubicBezTo>
                    <a:pt x="37168" y="443941"/>
                    <a:pt x="0" y="406773"/>
                    <a:pt x="0" y="360924"/>
                  </a:cubicBezTo>
                  <a:lnTo>
                    <a:pt x="0" y="83017"/>
                  </a:lnTo>
                  <a:cubicBezTo>
                    <a:pt x="0" y="37168"/>
                    <a:pt x="37168" y="0"/>
                    <a:pt x="83017" y="0"/>
                  </a:cubicBezTo>
                  <a:close/>
                </a:path>
              </a:pathLst>
            </a:custGeom>
            <a:solidFill>
              <a:srgbClr val="F2EF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43424" cy="48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338405" y="2922293"/>
            <a:ext cx="4503201" cy="4114800"/>
          </a:xfrm>
          <a:custGeom>
            <a:avLst/>
            <a:gdLst/>
            <a:ahLst/>
            <a:cxnLst/>
            <a:rect r="r" b="b" t="t" l="l"/>
            <a:pathLst>
              <a:path h="4114800" w="4503201">
                <a:moveTo>
                  <a:pt x="0" y="0"/>
                </a:moveTo>
                <a:lnTo>
                  <a:pt x="4503201" y="0"/>
                </a:lnTo>
                <a:lnTo>
                  <a:pt x="45032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2871" y="3518695"/>
            <a:ext cx="951469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264175"/>
                </a:solidFill>
                <a:latin typeface="Bernoru"/>
                <a:ea typeface="Bernoru"/>
                <a:cs typeface="Bernoru"/>
                <a:sym typeface="Bernoru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2871" y="5153667"/>
            <a:ext cx="895101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72542"/>
                </a:solidFill>
                <a:latin typeface="DM Sans"/>
                <a:ea typeface="DM Sans"/>
                <a:cs typeface="DM Sans"/>
                <a:sym typeface="DM Sans"/>
              </a:rPr>
              <a:t>FOR TAKING THE TIME TO LEARN ABOUT OUR DATA PRIVACY AND COMPLIANCE SERVICES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9207872">
            <a:off x="1431473" y="6362535"/>
            <a:ext cx="1434142" cy="1593491"/>
          </a:xfrm>
          <a:custGeom>
            <a:avLst/>
            <a:gdLst/>
            <a:ahLst/>
            <a:cxnLst/>
            <a:rect r="r" b="b" t="t" l="l"/>
            <a:pathLst>
              <a:path h="1593491" w="1434142">
                <a:moveTo>
                  <a:pt x="0" y="0"/>
                </a:moveTo>
                <a:lnTo>
                  <a:pt x="1434143" y="0"/>
                </a:lnTo>
                <a:lnTo>
                  <a:pt x="1434143" y="1593491"/>
                </a:lnTo>
                <a:lnTo>
                  <a:pt x="0" y="15934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134836" y="5825443"/>
            <a:ext cx="407138" cy="1403925"/>
          </a:xfrm>
          <a:custGeom>
            <a:avLst/>
            <a:gdLst/>
            <a:ahLst/>
            <a:cxnLst/>
            <a:rect r="r" b="b" t="t" l="l"/>
            <a:pathLst>
              <a:path h="1403925" w="407138">
                <a:moveTo>
                  <a:pt x="0" y="0"/>
                </a:moveTo>
                <a:lnTo>
                  <a:pt x="407138" y="0"/>
                </a:lnTo>
                <a:lnTo>
                  <a:pt x="407138" y="1403925"/>
                </a:lnTo>
                <a:lnTo>
                  <a:pt x="0" y="140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4152" y="2161050"/>
            <a:ext cx="1240542" cy="1440397"/>
          </a:xfrm>
          <a:custGeom>
            <a:avLst/>
            <a:gdLst/>
            <a:ahLst/>
            <a:cxnLst/>
            <a:rect r="r" b="b" t="t" l="l"/>
            <a:pathLst>
              <a:path h="1440397" w="1240542">
                <a:moveTo>
                  <a:pt x="0" y="0"/>
                </a:moveTo>
                <a:lnTo>
                  <a:pt x="1240542" y="0"/>
                </a:lnTo>
                <a:lnTo>
                  <a:pt x="1240542" y="1440397"/>
                </a:lnTo>
                <a:lnTo>
                  <a:pt x="0" y="14403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DAG6SAvu3Z4</dc:identifier>
  <dcterms:modified xsi:type="dcterms:W3CDTF">2011-08-01T06:04:30Z</dcterms:modified>
  <cp:revision>1</cp:revision>
  <dc:title>LAPORAN MISSION 3</dc:title>
</cp:coreProperties>
</file>